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4" r:id="rId7"/>
    <p:sldId id="265" r:id="rId8"/>
    <p:sldId id="261" r:id="rId9"/>
    <p:sldId id="262" r:id="rId10"/>
    <p:sldId id="263"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2701" autoAdjust="0"/>
  </p:normalViewPr>
  <p:slideViewPr>
    <p:cSldViewPr snapToGrid="0">
      <p:cViewPr varScale="1">
        <p:scale>
          <a:sx n="69" d="100"/>
          <a:sy n="69" d="100"/>
        </p:scale>
        <p:origin x="56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F49D6ADC-B9D5-4F2D-AA79-7397AA79E678}" type="datetimeFigureOut">
              <a:rPr lang="en-IN" smtClean="0"/>
              <a:t>03-05-2025</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19FD8BC3-316F-4122-AF28-01523E6A4753}" type="slidenum">
              <a:rPr lang="en-IN" smtClean="0"/>
              <a:t>‹#›</a:t>
            </a:fld>
            <a:endParaRPr lang="en-IN"/>
          </a:p>
        </p:txBody>
      </p:sp>
    </p:spTree>
    <p:extLst>
      <p:ext uri="{BB962C8B-B14F-4D97-AF65-F5344CB8AC3E}">
        <p14:creationId xmlns:p14="http://schemas.microsoft.com/office/powerpoint/2010/main" val="213168349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9D6ADC-B9D5-4F2D-AA79-7397AA79E678}"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FD8BC3-316F-4122-AF28-01523E6A4753}" type="slidenum">
              <a:rPr lang="en-IN" smtClean="0"/>
              <a:t>‹#›</a:t>
            </a:fld>
            <a:endParaRPr lang="en-IN"/>
          </a:p>
        </p:txBody>
      </p:sp>
    </p:spTree>
    <p:extLst>
      <p:ext uri="{BB962C8B-B14F-4D97-AF65-F5344CB8AC3E}">
        <p14:creationId xmlns:p14="http://schemas.microsoft.com/office/powerpoint/2010/main" val="2630681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9D6ADC-B9D5-4F2D-AA79-7397AA79E678}"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FD8BC3-316F-4122-AF28-01523E6A4753}" type="slidenum">
              <a:rPr lang="en-IN" smtClean="0"/>
              <a:t>‹#›</a:t>
            </a:fld>
            <a:endParaRPr lang="en-IN"/>
          </a:p>
        </p:txBody>
      </p:sp>
    </p:spTree>
    <p:extLst>
      <p:ext uri="{BB962C8B-B14F-4D97-AF65-F5344CB8AC3E}">
        <p14:creationId xmlns:p14="http://schemas.microsoft.com/office/powerpoint/2010/main" val="3065673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49D6ADC-B9D5-4F2D-AA79-7397AA79E678}" type="datetimeFigureOut">
              <a:rPr lang="en-IN" smtClean="0"/>
              <a:t>03-05-2025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FD8BC3-316F-4122-AF28-01523E6A4753}" type="slidenum">
              <a:rPr lang="en-IN" smtClean="0"/>
              <a:t>‹#›</a:t>
            </a:fld>
            <a:endParaRPr lang="en-IN"/>
          </a:p>
        </p:txBody>
      </p:sp>
    </p:spTree>
    <p:extLst>
      <p:ext uri="{BB962C8B-B14F-4D97-AF65-F5344CB8AC3E}">
        <p14:creationId xmlns:p14="http://schemas.microsoft.com/office/powerpoint/2010/main" val="3693214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49D6ADC-B9D5-4F2D-AA79-7397AA79E678}" type="datetimeFigureOut">
              <a:rPr lang="en-IN" smtClean="0"/>
              <a:t>03-05-2025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9FD8BC3-316F-4122-AF28-01523E6A4753}" type="slidenum">
              <a:rPr lang="en-IN" smtClean="0"/>
              <a:t>‹#›</a:t>
            </a:fld>
            <a:endParaRPr lang="en-IN"/>
          </a:p>
        </p:txBody>
      </p:sp>
    </p:spTree>
    <p:extLst>
      <p:ext uri="{BB962C8B-B14F-4D97-AF65-F5344CB8AC3E}">
        <p14:creationId xmlns:p14="http://schemas.microsoft.com/office/powerpoint/2010/main" val="2668106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49D6ADC-B9D5-4F2D-AA79-7397AA79E678}" type="datetimeFigureOut">
              <a:rPr lang="en-IN" smtClean="0"/>
              <a:t>03-05-2025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9FD8BC3-316F-4122-AF28-01523E6A4753}" type="slidenum">
              <a:rPr lang="en-IN" smtClean="0"/>
              <a:t>‹#›</a:t>
            </a:fld>
            <a:endParaRPr lang="en-IN"/>
          </a:p>
        </p:txBody>
      </p:sp>
    </p:spTree>
    <p:extLst>
      <p:ext uri="{BB962C8B-B14F-4D97-AF65-F5344CB8AC3E}">
        <p14:creationId xmlns:p14="http://schemas.microsoft.com/office/powerpoint/2010/main" val="35024607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F49D6ADC-B9D5-4F2D-AA79-7397AA79E678}" type="datetimeFigureOut">
              <a:rPr lang="en-IN" smtClean="0"/>
              <a:t>03-05-2025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9FD8BC3-316F-4122-AF28-01523E6A4753}" type="slidenum">
              <a:rPr lang="en-IN" smtClean="0"/>
              <a:t>‹#›</a:t>
            </a:fld>
            <a:endParaRPr lang="en-IN"/>
          </a:p>
        </p:txBody>
      </p:sp>
    </p:spTree>
    <p:extLst>
      <p:ext uri="{BB962C8B-B14F-4D97-AF65-F5344CB8AC3E}">
        <p14:creationId xmlns:p14="http://schemas.microsoft.com/office/powerpoint/2010/main" val="3142500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9D6ADC-B9D5-4F2D-AA79-7397AA79E678}" type="datetimeFigureOut">
              <a:rPr lang="en-IN" smtClean="0"/>
              <a:t>03-05-2025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FD8BC3-316F-4122-AF28-01523E6A4753}" type="slidenum">
              <a:rPr lang="en-IN" smtClean="0"/>
              <a:t>‹#›</a:t>
            </a:fld>
            <a:endParaRPr lang="en-IN"/>
          </a:p>
        </p:txBody>
      </p:sp>
    </p:spTree>
    <p:extLst>
      <p:ext uri="{BB962C8B-B14F-4D97-AF65-F5344CB8AC3E}">
        <p14:creationId xmlns:p14="http://schemas.microsoft.com/office/powerpoint/2010/main" val="1254074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9D6ADC-B9D5-4F2D-AA79-7397AA79E678}" type="datetimeFigureOut">
              <a:rPr lang="en-IN" smtClean="0"/>
              <a:t>03-05-2025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FD8BC3-316F-4122-AF28-01523E6A4753}" type="slidenum">
              <a:rPr lang="en-IN" smtClean="0"/>
              <a:t>‹#›</a:t>
            </a:fld>
            <a:endParaRPr lang="en-IN"/>
          </a:p>
        </p:txBody>
      </p:sp>
    </p:spTree>
    <p:extLst>
      <p:ext uri="{BB962C8B-B14F-4D97-AF65-F5344CB8AC3E}">
        <p14:creationId xmlns:p14="http://schemas.microsoft.com/office/powerpoint/2010/main" val="2257822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9D6ADC-B9D5-4F2D-AA79-7397AA79E678}" type="datetimeFigureOut">
              <a:rPr lang="en-IN" smtClean="0"/>
              <a:t>03-05-2025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FD8BC3-316F-4122-AF28-01523E6A4753}" type="slidenum">
              <a:rPr lang="en-IN" smtClean="0"/>
              <a:t>‹#›</a:t>
            </a:fld>
            <a:endParaRPr lang="en-IN"/>
          </a:p>
        </p:txBody>
      </p:sp>
    </p:spTree>
    <p:extLst>
      <p:ext uri="{BB962C8B-B14F-4D97-AF65-F5344CB8AC3E}">
        <p14:creationId xmlns:p14="http://schemas.microsoft.com/office/powerpoint/2010/main" val="1052963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9D6ADC-B9D5-4F2D-AA79-7397AA79E678}"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FD8BC3-316F-4122-AF28-01523E6A4753}" type="slidenum">
              <a:rPr lang="en-IN" smtClean="0"/>
              <a:t>‹#›</a:t>
            </a:fld>
            <a:endParaRPr lang="en-IN"/>
          </a:p>
        </p:txBody>
      </p:sp>
    </p:spTree>
    <p:extLst>
      <p:ext uri="{BB962C8B-B14F-4D97-AF65-F5344CB8AC3E}">
        <p14:creationId xmlns:p14="http://schemas.microsoft.com/office/powerpoint/2010/main" val="28278379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9D6ADC-B9D5-4F2D-AA79-7397AA79E678}"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FD8BC3-316F-4122-AF28-01523E6A4753}" type="slidenum">
              <a:rPr lang="en-IN" smtClean="0"/>
              <a:t>‹#›</a:t>
            </a:fld>
            <a:endParaRPr lang="en-IN"/>
          </a:p>
        </p:txBody>
      </p:sp>
    </p:spTree>
    <p:extLst>
      <p:ext uri="{BB962C8B-B14F-4D97-AF65-F5344CB8AC3E}">
        <p14:creationId xmlns:p14="http://schemas.microsoft.com/office/powerpoint/2010/main" val="33611222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9D6ADC-B9D5-4F2D-AA79-7397AA79E678}"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FD8BC3-316F-4122-AF28-01523E6A4753}" type="slidenum">
              <a:rPr lang="en-IN" smtClean="0"/>
              <a:t>‹#›</a:t>
            </a:fld>
            <a:endParaRPr lang="en-IN"/>
          </a:p>
        </p:txBody>
      </p:sp>
    </p:spTree>
    <p:extLst>
      <p:ext uri="{BB962C8B-B14F-4D97-AF65-F5344CB8AC3E}">
        <p14:creationId xmlns:p14="http://schemas.microsoft.com/office/powerpoint/2010/main" val="3036958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9D6ADC-B9D5-4F2D-AA79-7397AA79E678}"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FD8BC3-316F-4122-AF28-01523E6A4753}" type="slidenum">
              <a:rPr lang="en-IN" smtClean="0"/>
              <a:t>‹#›</a:t>
            </a:fld>
            <a:endParaRPr lang="en-IN"/>
          </a:p>
        </p:txBody>
      </p:sp>
    </p:spTree>
    <p:extLst>
      <p:ext uri="{BB962C8B-B14F-4D97-AF65-F5344CB8AC3E}">
        <p14:creationId xmlns:p14="http://schemas.microsoft.com/office/powerpoint/2010/main" val="35005854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9D6ADC-B9D5-4F2D-AA79-7397AA79E678}"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FD8BC3-316F-4122-AF28-01523E6A4753}" type="slidenum">
              <a:rPr lang="en-IN" smtClean="0"/>
              <a:t>‹#›</a:t>
            </a:fld>
            <a:endParaRPr lang="en-IN"/>
          </a:p>
        </p:txBody>
      </p:sp>
    </p:spTree>
    <p:extLst>
      <p:ext uri="{BB962C8B-B14F-4D97-AF65-F5344CB8AC3E}">
        <p14:creationId xmlns:p14="http://schemas.microsoft.com/office/powerpoint/2010/main" val="10297413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9D6ADC-B9D5-4F2D-AA79-7397AA79E678}"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FD8BC3-316F-4122-AF28-01523E6A4753}" type="slidenum">
              <a:rPr lang="en-IN" smtClean="0"/>
              <a:t>‹#›</a:t>
            </a:fld>
            <a:endParaRPr lang="en-IN"/>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9920135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9D6ADC-B9D5-4F2D-AA79-7397AA79E678}"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FD8BC3-316F-4122-AF28-01523E6A4753}" type="slidenum">
              <a:rPr lang="en-IN" smtClean="0"/>
              <a:t>‹#›</a:t>
            </a:fld>
            <a:endParaRPr lang="en-IN"/>
          </a:p>
        </p:txBody>
      </p:sp>
    </p:spTree>
    <p:extLst>
      <p:ext uri="{BB962C8B-B14F-4D97-AF65-F5344CB8AC3E}">
        <p14:creationId xmlns:p14="http://schemas.microsoft.com/office/powerpoint/2010/main" val="1713942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49D6ADC-B9D5-4F2D-AA79-7397AA79E678}" type="datetimeFigureOut">
              <a:rPr lang="en-IN" smtClean="0"/>
              <a:t>03-05-2025</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9FD8BC3-316F-4122-AF28-01523E6A4753}" type="slidenum">
              <a:rPr lang="en-IN" smtClean="0"/>
              <a:t>‹#›</a:t>
            </a:fld>
            <a:endParaRPr lang="en-IN"/>
          </a:p>
        </p:txBody>
      </p:sp>
    </p:spTree>
    <p:extLst>
      <p:ext uri="{BB962C8B-B14F-4D97-AF65-F5344CB8AC3E}">
        <p14:creationId xmlns:p14="http://schemas.microsoft.com/office/powerpoint/2010/main" val="3677089210"/>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hyperlink" Target="http://doi.org/10.1016/j.jocs.2010.12.007" TargetMode="External"/><Relationship Id="rId3" Type="http://schemas.openxmlformats.org/officeDocument/2006/relationships/hyperlink" Target="http://doi.org/10.1145/3185045" TargetMode="External"/><Relationship Id="rId7" Type="http://schemas.openxmlformats.org/officeDocument/2006/relationships/hyperlink" Target="http://scholar.google.com/scholar_lookup?title=Twitter+Mood+Predicts+the+Stock+Market&amp;author=Bollen,+J.&amp;author=Mao,+H.&amp;author=Zeng,+X.&amp;publication_year=2011&amp;journal=J.+Comput.+Sci.&amp;volume=2&amp;pages=1%E2%80%938&amp;doi=10.1016/j.jocs.2010.12.007" TargetMode="External"/><Relationship Id="rId2" Type="http://schemas.openxmlformats.org/officeDocument/2006/relationships/hyperlink" Target="http://scholar.google.com/scholar_lookup?title=The+State-of-the-Art+in+Twitter+Sentiment+Analysis:+A+Review+and+Benchmark+Evaluation&amp;author=Zimbra,+D.&amp;author=Abbasi,+A.&amp;author=Zeng,+D.&amp;author=Chen,+H.&amp;publication_year=2018&amp;journal=ACM+Trans.+Manag.+Inf.+Syst.&amp;volume=9&amp;pages=5&amp;doi=10.1145/3185045" TargetMode="External"/><Relationship Id="rId1" Type="http://schemas.openxmlformats.org/officeDocument/2006/relationships/slideLayout" Target="../slideLayouts/slideLayout2.xml"/><Relationship Id="rId6" Type="http://schemas.openxmlformats.org/officeDocument/2006/relationships/hyperlink" Target="http://ageconsearch.umn.edu/record/148305/files/wp8.pdf" TargetMode="External"/><Relationship Id="rId11" Type="http://schemas.openxmlformats.org/officeDocument/2006/relationships/hyperlink" Target="https://www.statista.com/" TargetMode="External"/><Relationship Id="rId5" Type="http://schemas.openxmlformats.org/officeDocument/2006/relationships/hyperlink" Target="http://doi.org/10.1016/j.dss.2012.12.022" TargetMode="External"/><Relationship Id="rId10" Type="http://schemas.openxmlformats.org/officeDocument/2006/relationships/hyperlink" Target="http://scholar.google.com/scholar_lookup?title=A+System+for+Real-time+Twitter+Sentiment+Analysis+of+2012+U.S.+Presidential+Election+Cycle&amp;conference=Proceedings+of+the+ACL+2012+System+Demonstrations&amp;author=Wang,+H.&amp;author=Can,+D.&amp;author=Kazemzadeh,+A.&amp;author=Bar,+F.&amp;author=Narayanan,+S.&amp;publication_year=2012" TargetMode="External"/><Relationship Id="rId4" Type="http://schemas.openxmlformats.org/officeDocument/2006/relationships/hyperlink" Target="http://scholar.google.com/scholar_lookup?title=Whose+and+What+Chatter+Matters?+The+Effect+of+Tweets+on+Movie+Sales&amp;author=Rui,+H.&amp;author=Liu,+Y.&amp;author=Whinston,+A.&amp;publication_year=2013&amp;journal=Decis.+Support+Syst.&amp;volume=55&amp;pages=863%E2%80%93870&amp;doi=10.1016/j.dss.2012.12.022" TargetMode="External"/><Relationship Id="rId9" Type="http://schemas.openxmlformats.org/officeDocument/2006/relationships/hyperlink" Target="http://arxiv.org/pdf/1010.300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E79A3-2E6E-7F94-07E7-FB4A1E7B91F4}"/>
              </a:ext>
            </a:extLst>
          </p:cNvPr>
          <p:cNvSpPr>
            <a:spLocks noGrp="1"/>
          </p:cNvSpPr>
          <p:nvPr>
            <p:ph type="ctrTitle"/>
          </p:nvPr>
        </p:nvSpPr>
        <p:spPr>
          <a:xfrm>
            <a:off x="0" y="71459"/>
            <a:ext cx="7197726" cy="2421464"/>
          </a:xfrm>
        </p:spPr>
        <p:txBody>
          <a:bodyPr/>
          <a:lstStyle/>
          <a:p>
            <a:r>
              <a:rPr lang="en-US" dirty="0"/>
              <a:t>Sentiment analysis of twitter data </a:t>
            </a:r>
            <a:endParaRPr lang="en-IN" dirty="0"/>
          </a:p>
        </p:txBody>
      </p:sp>
      <p:sp>
        <p:nvSpPr>
          <p:cNvPr id="3" name="Subtitle 2">
            <a:extLst>
              <a:ext uri="{FF2B5EF4-FFF2-40B4-BE49-F238E27FC236}">
                <a16:creationId xmlns:a16="http://schemas.microsoft.com/office/drawing/2014/main" id="{4EA1AF59-1776-651F-AACE-0197459BC713}"/>
              </a:ext>
            </a:extLst>
          </p:cNvPr>
          <p:cNvSpPr>
            <a:spLocks noGrp="1"/>
          </p:cNvSpPr>
          <p:nvPr>
            <p:ph type="subTitle" idx="1"/>
          </p:nvPr>
        </p:nvSpPr>
        <p:spPr>
          <a:xfrm>
            <a:off x="4730495" y="5053244"/>
            <a:ext cx="7197726" cy="1405467"/>
          </a:xfrm>
        </p:spPr>
        <p:txBody>
          <a:bodyPr>
            <a:normAutofit lnSpcReduction="10000"/>
          </a:bodyPr>
          <a:lstStyle/>
          <a:p>
            <a:r>
              <a:rPr lang="en-US" dirty="0" err="1"/>
              <a:t>Name:B.Bhargavi</a:t>
            </a:r>
            <a:endParaRPr lang="en-US" dirty="0"/>
          </a:p>
          <a:p>
            <a:r>
              <a:rPr lang="en-US" dirty="0"/>
              <a:t>Branch/</a:t>
            </a:r>
            <a:r>
              <a:rPr lang="en-US" dirty="0" err="1"/>
              <a:t>Year:CSE</a:t>
            </a:r>
            <a:r>
              <a:rPr lang="en-US" dirty="0"/>
              <a:t> 2</a:t>
            </a:r>
            <a:r>
              <a:rPr lang="en-US" baseline="30000" dirty="0"/>
              <a:t>nd</a:t>
            </a:r>
            <a:r>
              <a:rPr lang="en-US" dirty="0"/>
              <a:t> year</a:t>
            </a:r>
          </a:p>
          <a:p>
            <a:r>
              <a:rPr lang="en-US" dirty="0"/>
              <a:t>College </a:t>
            </a:r>
            <a:r>
              <a:rPr lang="en-US" dirty="0" err="1"/>
              <a:t>Name:Vignan</a:t>
            </a:r>
            <a:r>
              <a:rPr lang="en-US" dirty="0"/>
              <a:t> </a:t>
            </a:r>
            <a:r>
              <a:rPr lang="en-US" dirty="0" err="1"/>
              <a:t>instituteof</a:t>
            </a:r>
            <a:r>
              <a:rPr lang="en-US" dirty="0"/>
              <a:t> management of </a:t>
            </a:r>
            <a:r>
              <a:rPr lang="en-US" dirty="0" err="1"/>
              <a:t>Trechnology</a:t>
            </a:r>
            <a:r>
              <a:rPr lang="en-US" dirty="0"/>
              <a:t> for Women’s</a:t>
            </a:r>
            <a:endParaRPr lang="en-IN" dirty="0"/>
          </a:p>
        </p:txBody>
      </p:sp>
    </p:spTree>
    <p:extLst>
      <p:ext uri="{BB962C8B-B14F-4D97-AF65-F5344CB8AC3E}">
        <p14:creationId xmlns:p14="http://schemas.microsoft.com/office/powerpoint/2010/main" val="1911606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F0F98-52B1-03DA-459C-B290F083AD5F}"/>
              </a:ext>
            </a:extLst>
          </p:cNvPr>
          <p:cNvSpPr>
            <a:spLocks noGrp="1"/>
          </p:cNvSpPr>
          <p:nvPr>
            <p:ph type="title"/>
          </p:nvPr>
        </p:nvSpPr>
        <p:spPr/>
        <p:txBody>
          <a:bodyPr/>
          <a:lstStyle/>
          <a:p>
            <a:r>
              <a:rPr lang="en-US" dirty="0"/>
              <a:t>Index</a:t>
            </a:r>
            <a:endParaRPr lang="en-IN" dirty="0"/>
          </a:p>
        </p:txBody>
      </p:sp>
      <p:sp>
        <p:nvSpPr>
          <p:cNvPr id="3" name="Content Placeholder 2">
            <a:extLst>
              <a:ext uri="{FF2B5EF4-FFF2-40B4-BE49-F238E27FC236}">
                <a16:creationId xmlns:a16="http://schemas.microsoft.com/office/drawing/2014/main" id="{FACCB01D-01A0-251B-0755-28C060E0182E}"/>
              </a:ext>
            </a:extLst>
          </p:cNvPr>
          <p:cNvSpPr>
            <a:spLocks noGrp="1"/>
          </p:cNvSpPr>
          <p:nvPr>
            <p:ph idx="1"/>
          </p:nvPr>
        </p:nvSpPr>
        <p:spPr/>
        <p:txBody>
          <a:bodyPr/>
          <a:lstStyle/>
          <a:p>
            <a:r>
              <a:rPr lang="en-US" dirty="0"/>
              <a:t>Abstract</a:t>
            </a:r>
          </a:p>
          <a:p>
            <a:r>
              <a:rPr lang="en-US" dirty="0"/>
              <a:t>Introduction</a:t>
            </a:r>
          </a:p>
          <a:p>
            <a:r>
              <a:rPr lang="en-US" dirty="0" err="1"/>
              <a:t>Literture</a:t>
            </a:r>
            <a:r>
              <a:rPr lang="en-US" dirty="0"/>
              <a:t> Review</a:t>
            </a:r>
          </a:p>
          <a:p>
            <a:r>
              <a:rPr lang="en-US" dirty="0" err="1"/>
              <a:t>Methology</a:t>
            </a:r>
            <a:endParaRPr lang="en-US" dirty="0"/>
          </a:p>
          <a:p>
            <a:r>
              <a:rPr lang="en-US" dirty="0"/>
              <a:t>System Architecture</a:t>
            </a:r>
          </a:p>
          <a:p>
            <a:r>
              <a:rPr lang="en-US" dirty="0"/>
              <a:t>System Requirements</a:t>
            </a:r>
          </a:p>
          <a:p>
            <a:r>
              <a:rPr lang="en-US" dirty="0"/>
              <a:t>Advantages and Disadvantages</a:t>
            </a:r>
          </a:p>
          <a:p>
            <a:r>
              <a:rPr lang="en-US" dirty="0"/>
              <a:t>Conclusion </a:t>
            </a:r>
          </a:p>
          <a:p>
            <a:r>
              <a:rPr lang="en-US" dirty="0"/>
              <a:t>Reference</a:t>
            </a:r>
            <a:endParaRPr lang="en-IN" dirty="0"/>
          </a:p>
        </p:txBody>
      </p:sp>
    </p:spTree>
    <p:extLst>
      <p:ext uri="{BB962C8B-B14F-4D97-AF65-F5344CB8AC3E}">
        <p14:creationId xmlns:p14="http://schemas.microsoft.com/office/powerpoint/2010/main" val="996237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0B1CE-D5E5-D2FA-506A-AC94947853A8}"/>
              </a:ext>
            </a:extLst>
          </p:cNvPr>
          <p:cNvSpPr>
            <a:spLocks noGrp="1"/>
          </p:cNvSpPr>
          <p:nvPr>
            <p:ph type="title"/>
          </p:nvPr>
        </p:nvSpPr>
        <p:spPr/>
        <p:txBody>
          <a:bodyPr/>
          <a:lstStyle/>
          <a:p>
            <a:r>
              <a:rPr lang="en-US" dirty="0"/>
              <a:t>Abstract		</a:t>
            </a:r>
            <a:endParaRPr lang="en-IN" dirty="0"/>
          </a:p>
        </p:txBody>
      </p:sp>
      <p:sp>
        <p:nvSpPr>
          <p:cNvPr id="3" name="Content Placeholder 2">
            <a:extLst>
              <a:ext uri="{FF2B5EF4-FFF2-40B4-BE49-F238E27FC236}">
                <a16:creationId xmlns:a16="http://schemas.microsoft.com/office/drawing/2014/main" id="{A86CA26F-9508-63DD-B55E-4C867F416A52}"/>
              </a:ext>
            </a:extLst>
          </p:cNvPr>
          <p:cNvSpPr>
            <a:spLocks noGrp="1"/>
          </p:cNvSpPr>
          <p:nvPr>
            <p:ph idx="1"/>
          </p:nvPr>
        </p:nvSpPr>
        <p:spPr>
          <a:xfrm>
            <a:off x="768097" y="2967567"/>
            <a:ext cx="10131425" cy="3649133"/>
          </a:xfrm>
        </p:spPr>
        <p:txBody>
          <a:bodyPr>
            <a:noAutofit/>
          </a:bodyPr>
          <a:lstStyle/>
          <a:p>
            <a:pPr algn="ctr">
              <a:lnSpc>
                <a:spcPct val="115000"/>
              </a:lnSpc>
              <a:spcAft>
                <a:spcPts val="800"/>
              </a:spcAft>
              <a:buNone/>
            </a:pPr>
            <a:endParaRPr lang="en-IN"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buNone/>
            </a:pPr>
            <a:r>
              <a:rPr lang="en-US" sz="1500" b="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buNone/>
            </a:pPr>
            <a:endParaRPr lang="en-IN"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buNone/>
            </a:pP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Twitter is a widely used platform where people express opinions on various topics. Sentiment Analysis, also known as Opinion Mining, helps classify these opinions into positive, negative, or neutral sentiments. This project aims to analyze Twitter data using Natural Language Processing (NLP) and machine learning techniques.</a:t>
            </a:r>
            <a:endParaRPr lang="en-IN"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buNone/>
            </a:pP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The system collects real-time tweets using the </a:t>
            </a:r>
            <a:r>
              <a:rPr lang="en-US" sz="1500" kern="100" dirty="0" err="1">
                <a:effectLst/>
                <a:latin typeface="Times New Roman" panose="02020603050405020304" pitchFamily="18" charset="0"/>
                <a:ea typeface="Calibri" panose="020F0502020204030204" pitchFamily="34" charset="0"/>
                <a:cs typeface="Times New Roman" panose="02020603050405020304" pitchFamily="18" charset="0"/>
              </a:rPr>
              <a:t>Tweepy</a:t>
            </a: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 API and processes them through text preprocessing steps like tokenization, </a:t>
            </a:r>
            <a:r>
              <a:rPr lang="en-US" sz="1500" kern="100" dirty="0" err="1">
                <a:effectLst/>
                <a:latin typeface="Times New Roman" panose="02020603050405020304" pitchFamily="18" charset="0"/>
                <a:ea typeface="Calibri" panose="020F0502020204030204" pitchFamily="34" charset="0"/>
                <a:cs typeface="Times New Roman" panose="02020603050405020304" pitchFamily="18" charset="0"/>
              </a:rPr>
              <a:t>stopword</a:t>
            </a: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 removal, and stemming. Sentiment classification is performed using libraries such as NLTK, </a:t>
            </a:r>
            <a:r>
              <a:rPr lang="en-US" sz="1500" kern="100" dirty="0" err="1">
                <a:effectLst/>
                <a:latin typeface="Times New Roman" panose="02020603050405020304" pitchFamily="18" charset="0"/>
                <a:ea typeface="Calibri" panose="020F0502020204030204" pitchFamily="34" charset="0"/>
                <a:cs typeface="Times New Roman" panose="02020603050405020304" pitchFamily="18" charset="0"/>
              </a:rPr>
              <a:t>TextBlob</a:t>
            </a: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 and VADER. Advanced feature extraction techniques like TF-IDF and Word Embeddings are applied to enhance sentiment prediction.</a:t>
            </a:r>
            <a:endParaRPr lang="en-IN"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buNone/>
            </a:pP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Machine learning models such as Logistic Regression, Naïve Bayes, and LSTM-based deep learning models are used for classification. The results are visualized using matplotlib and seaborn, showing sentiment distribution and trends over time.</a:t>
            </a:r>
            <a:endParaRPr lang="en-IN"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buNone/>
            </a:pP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This project is useful for brand reputation monitoring, customer feedback analysis, and trend prediction. Businesses and policymakers can leverage the insights to understand public sentiment. Future improvements can include fine-tuning deep learning models for higher accuracy.</a:t>
            </a:r>
            <a:endParaRPr lang="en-IN"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buNone/>
            </a:pP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buNone/>
            </a:pP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500" kern="100" dirty="0">
              <a:effectLst/>
              <a:latin typeface="Calibri" panose="020F0502020204030204" pitchFamily="34" charset="0"/>
              <a:ea typeface="Calibri" panose="020F0502020204030204" pitchFamily="34" charset="0"/>
              <a:cs typeface="Times New Roman" panose="02020603050405020304" pitchFamily="18" charset="0"/>
            </a:endParaRPr>
          </a:p>
          <a:p>
            <a:pPr marL="3657600" algn="just">
              <a:lnSpc>
                <a:spcPct val="115000"/>
              </a:lnSpc>
              <a:spcAft>
                <a:spcPts val="800"/>
              </a:spcAft>
              <a:buNone/>
            </a:pP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500" kern="100" dirty="0">
              <a:effectLst/>
              <a:latin typeface="Calibri" panose="020F0502020204030204" pitchFamily="34" charset="0"/>
              <a:ea typeface="Calibri" panose="020F0502020204030204" pitchFamily="34" charset="0"/>
              <a:cs typeface="Times New Roman" panose="02020603050405020304" pitchFamily="18" charset="0"/>
            </a:endParaRPr>
          </a:p>
          <a:p>
            <a:pPr marL="3657600" algn="just">
              <a:lnSpc>
                <a:spcPct val="115000"/>
              </a:lnSpc>
              <a:spcAft>
                <a:spcPts val="800"/>
              </a:spcAft>
              <a:buNone/>
            </a:pPr>
            <a:r>
              <a:rPr lang="en-US" sz="1500" b="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buNone/>
            </a:pP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5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5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500" dirty="0"/>
          </a:p>
        </p:txBody>
      </p:sp>
    </p:spTree>
    <p:extLst>
      <p:ext uri="{BB962C8B-B14F-4D97-AF65-F5344CB8AC3E}">
        <p14:creationId xmlns:p14="http://schemas.microsoft.com/office/powerpoint/2010/main" val="1530732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3FCA5-0008-3DBE-BB73-627D6DD5D4C1}"/>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6A4AAA10-1082-0835-6F11-296EA566AB61}"/>
              </a:ext>
            </a:extLst>
          </p:cNvPr>
          <p:cNvSpPr>
            <a:spLocks noGrp="1"/>
          </p:cNvSpPr>
          <p:nvPr>
            <p:ph idx="1"/>
          </p:nvPr>
        </p:nvSpPr>
        <p:spPr/>
        <p:txBody>
          <a:bodyPr/>
          <a:lstStyle/>
          <a:p>
            <a:r>
              <a:rPr lang="en-US" b="1" dirty="0"/>
              <a:t>Sentiment analysis</a:t>
            </a:r>
            <a:r>
              <a:rPr lang="en-US" dirty="0"/>
              <a:t> is a natural language processing (NLP) technique used to determine the emotional tone or opinion expressed in a piece of text. It aims to classify text as </a:t>
            </a:r>
            <a:r>
              <a:rPr lang="en-US" b="1" dirty="0"/>
              <a:t>positive</a:t>
            </a:r>
            <a:r>
              <a:rPr lang="en-US" dirty="0"/>
              <a:t>, </a:t>
            </a:r>
            <a:r>
              <a:rPr lang="en-US" b="1" dirty="0"/>
              <a:t>negative</a:t>
            </a:r>
            <a:r>
              <a:rPr lang="en-US" dirty="0"/>
              <a:t>, or </a:t>
            </a:r>
            <a:r>
              <a:rPr lang="en-US" b="1" dirty="0"/>
              <a:t>neutral</a:t>
            </a:r>
            <a:r>
              <a:rPr lang="en-US" dirty="0"/>
              <a:t>, and can also detect more nuanced emotions such as anger, joy, or sadness.</a:t>
            </a:r>
          </a:p>
          <a:p>
            <a:r>
              <a:rPr lang="en-US" dirty="0"/>
              <a:t>The primary objective of sentiment analysis of Twitter data is to automatically extract and classify the emotional tone or opinion expressed in tweets—such as positive, negative, or neutral—in order to understand public sentiment, monitor trends, support decision-making, and gain actionable insights into user perceptions regarding specific topics, events, products, or services.</a:t>
            </a:r>
            <a:endParaRPr lang="en-IN" dirty="0"/>
          </a:p>
        </p:txBody>
      </p:sp>
    </p:spTree>
    <p:extLst>
      <p:ext uri="{BB962C8B-B14F-4D97-AF65-F5344CB8AC3E}">
        <p14:creationId xmlns:p14="http://schemas.microsoft.com/office/powerpoint/2010/main" val="418543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F92D3-4DF8-A02C-3FC3-9A7DC594FA93}"/>
              </a:ext>
            </a:extLst>
          </p:cNvPr>
          <p:cNvSpPr>
            <a:spLocks noGrp="1"/>
          </p:cNvSpPr>
          <p:nvPr>
            <p:ph type="title"/>
          </p:nvPr>
        </p:nvSpPr>
        <p:spPr/>
        <p:txBody>
          <a:bodyPr/>
          <a:lstStyle/>
          <a:p>
            <a:r>
              <a:rPr lang="en-US" dirty="0"/>
              <a:t>Literature review</a:t>
            </a:r>
            <a:endParaRPr lang="en-IN" dirty="0"/>
          </a:p>
        </p:txBody>
      </p:sp>
      <p:sp>
        <p:nvSpPr>
          <p:cNvPr id="3" name="Content Placeholder 2">
            <a:extLst>
              <a:ext uri="{FF2B5EF4-FFF2-40B4-BE49-F238E27FC236}">
                <a16:creationId xmlns:a16="http://schemas.microsoft.com/office/drawing/2014/main" id="{29D6B055-4BA1-007F-5478-CC69C758AD6E}"/>
              </a:ext>
            </a:extLst>
          </p:cNvPr>
          <p:cNvSpPr>
            <a:spLocks noGrp="1"/>
          </p:cNvSpPr>
          <p:nvPr>
            <p:ph idx="1"/>
          </p:nvPr>
        </p:nvSpPr>
        <p:spPr/>
        <p:txBody>
          <a:bodyPr/>
          <a:lstStyle/>
          <a:p>
            <a:r>
              <a:rPr lang="en-US" b="0" i="0" dirty="0">
                <a:effectLst/>
                <a:latin typeface="Google Sans"/>
              </a:rPr>
              <a:t>Sentiment analysis research broadly examines how to computationally identify and classify the emotional tone (positive, negative, or neutral) of text, opinions, and attitudes expressed in written or spoken language. </a:t>
            </a:r>
          </a:p>
          <a:p>
            <a:r>
              <a:rPr lang="en-US" b="0" i="0" dirty="0">
                <a:effectLst/>
                <a:latin typeface="Google Sans"/>
              </a:rPr>
              <a:t>Previous studies of sentiment analysis highlight the ability of sentiment analysis to automatically classify text into different emotional attitudes, such as positive, negative, and neutral, and its effectiveness in identifying and responding to real-time issues</a:t>
            </a:r>
            <a:r>
              <a:rPr lang="en-US" dirty="0">
                <a:latin typeface="Google Sans"/>
              </a:rPr>
              <a:t>.</a:t>
            </a:r>
          </a:p>
          <a:p>
            <a:r>
              <a:rPr lang="en-US" b="0" i="0" dirty="0">
                <a:effectLst/>
                <a:latin typeface="Google Sans"/>
              </a:rPr>
              <a:t>Sentiment analysis has made significant strides, but gaps remain in handling complex scenarios like sarcasm, contextual understanding, and nuanced emotions. Addressing these gaps involves improving data quality, refining algorithms, and expanding the scope of analysis beyond simple polarity.</a:t>
            </a:r>
            <a:endParaRPr lang="en-IN" dirty="0"/>
          </a:p>
        </p:txBody>
      </p:sp>
    </p:spTree>
    <p:extLst>
      <p:ext uri="{BB962C8B-B14F-4D97-AF65-F5344CB8AC3E}">
        <p14:creationId xmlns:p14="http://schemas.microsoft.com/office/powerpoint/2010/main" val="2492829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EE746-990B-54C9-8923-0BC04782A32F}"/>
              </a:ext>
            </a:extLst>
          </p:cNvPr>
          <p:cNvSpPr>
            <a:spLocks noGrp="1"/>
          </p:cNvSpPr>
          <p:nvPr>
            <p:ph type="title"/>
          </p:nvPr>
        </p:nvSpPr>
        <p:spPr/>
        <p:txBody>
          <a:bodyPr/>
          <a:lstStyle/>
          <a:p>
            <a:r>
              <a:rPr lang="en-US" dirty="0"/>
              <a:t>methodology</a:t>
            </a:r>
            <a:endParaRPr lang="en-IN" dirty="0"/>
          </a:p>
        </p:txBody>
      </p:sp>
      <p:sp>
        <p:nvSpPr>
          <p:cNvPr id="3" name="Content Placeholder 2">
            <a:extLst>
              <a:ext uri="{FF2B5EF4-FFF2-40B4-BE49-F238E27FC236}">
                <a16:creationId xmlns:a16="http://schemas.microsoft.com/office/drawing/2014/main" id="{01977DE3-6813-223A-6FA7-E496F8BB747F}"/>
              </a:ext>
            </a:extLst>
          </p:cNvPr>
          <p:cNvSpPr>
            <a:spLocks noGrp="1"/>
          </p:cNvSpPr>
          <p:nvPr>
            <p:ph idx="1"/>
          </p:nvPr>
        </p:nvSpPr>
        <p:spPr/>
        <p:txBody>
          <a:bodyPr/>
          <a:lstStyle/>
          <a:p>
            <a:r>
              <a:rPr lang="en-US" b="0" i="0" dirty="0">
                <a:effectLst/>
                <a:latin typeface="Google Sans"/>
              </a:rPr>
              <a:t>Data collection from Twitter, also known as scraping or mining, is the process of gathering information, such as tweets, user profiles, and follower lists, from the Twitter platform. This process typically involves using the Twitter API, which provides structured ways to request data, and can be used for a variety of purposes like sentiment analysis, trend identification, or social network analysis. </a:t>
            </a:r>
          </a:p>
          <a:p>
            <a:r>
              <a:rPr lang="en-US" b="0" i="0" dirty="0">
                <a:effectLst/>
                <a:latin typeface="Google Sans"/>
              </a:rPr>
              <a:t>Data preprocessing techniques are crucial for preparing raw data into a usable format for analysis or machine learning algorithms. These techniques include cleaning, transforming, and reducing data to ensure accuracy, consistency, and efficiency. </a:t>
            </a:r>
          </a:p>
          <a:p>
            <a:r>
              <a:rPr lang="en-US" b="0" i="0" dirty="0">
                <a:effectLst/>
                <a:latin typeface="Google Sans"/>
              </a:rPr>
              <a:t>Sentiment analysis algorithms are </a:t>
            </a:r>
            <a:r>
              <a:rPr lang="en-US" dirty="0"/>
              <a:t>natural language processing techniques used to determine the emotional tone of a text, categorizing it as positive, negative, or neutral</a:t>
            </a:r>
            <a:r>
              <a:rPr lang="en-US" b="0" i="0" dirty="0">
                <a:effectLst/>
                <a:latin typeface="Google Sans"/>
              </a:rPr>
              <a:t>.</a:t>
            </a:r>
            <a:endParaRPr lang="en-IN" dirty="0"/>
          </a:p>
        </p:txBody>
      </p:sp>
    </p:spTree>
    <p:extLst>
      <p:ext uri="{BB962C8B-B14F-4D97-AF65-F5344CB8AC3E}">
        <p14:creationId xmlns:p14="http://schemas.microsoft.com/office/powerpoint/2010/main" val="476952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F017F-272F-CE5D-8082-8E141FEDDE22}"/>
              </a:ext>
            </a:extLst>
          </p:cNvPr>
          <p:cNvSpPr>
            <a:spLocks noGrp="1"/>
          </p:cNvSpPr>
          <p:nvPr>
            <p:ph type="title"/>
          </p:nvPr>
        </p:nvSpPr>
        <p:spPr/>
        <p:txBody>
          <a:bodyPr/>
          <a:lstStyle/>
          <a:p>
            <a:r>
              <a:rPr lang="en-US" dirty="0"/>
              <a:t>System </a:t>
            </a:r>
            <a:r>
              <a:rPr lang="en-US" dirty="0" err="1"/>
              <a:t>architecutre</a:t>
            </a:r>
            <a:endParaRPr lang="en-IN" dirty="0"/>
          </a:p>
        </p:txBody>
      </p:sp>
      <p:pic>
        <p:nvPicPr>
          <p:cNvPr id="5" name="Content Placeholder 4">
            <a:extLst>
              <a:ext uri="{FF2B5EF4-FFF2-40B4-BE49-F238E27FC236}">
                <a16:creationId xmlns:a16="http://schemas.microsoft.com/office/drawing/2014/main" id="{9BEAABCD-F6C0-DA04-7F9A-0983ED7417B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8000" y="1717964"/>
            <a:ext cx="11176000" cy="4978399"/>
          </a:xfrm>
        </p:spPr>
      </p:pic>
    </p:spTree>
    <p:extLst>
      <p:ext uri="{BB962C8B-B14F-4D97-AF65-F5344CB8AC3E}">
        <p14:creationId xmlns:p14="http://schemas.microsoft.com/office/powerpoint/2010/main" val="2523516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BFFAF-BF98-B329-0E77-0B542B947A44}"/>
              </a:ext>
            </a:extLst>
          </p:cNvPr>
          <p:cNvSpPr>
            <a:spLocks noGrp="1"/>
          </p:cNvSpPr>
          <p:nvPr>
            <p:ph type="title"/>
          </p:nvPr>
        </p:nvSpPr>
        <p:spPr/>
        <p:txBody>
          <a:bodyPr/>
          <a:lstStyle/>
          <a:p>
            <a:r>
              <a:rPr lang="en-US" dirty="0"/>
              <a:t>System requirement</a:t>
            </a:r>
            <a:endParaRPr lang="en-IN" dirty="0"/>
          </a:p>
        </p:txBody>
      </p:sp>
      <p:graphicFrame>
        <p:nvGraphicFramePr>
          <p:cNvPr id="4" name="Content Placeholder 3">
            <a:extLst>
              <a:ext uri="{FF2B5EF4-FFF2-40B4-BE49-F238E27FC236}">
                <a16:creationId xmlns:a16="http://schemas.microsoft.com/office/drawing/2014/main" id="{84CB04C6-F764-6F83-F6CF-3D6AB99C4956}"/>
              </a:ext>
            </a:extLst>
          </p:cNvPr>
          <p:cNvGraphicFramePr>
            <a:graphicFrameLocks noGrp="1"/>
          </p:cNvGraphicFramePr>
          <p:nvPr>
            <p:ph idx="1"/>
            <p:extLst>
              <p:ext uri="{D42A27DB-BD31-4B8C-83A1-F6EECF244321}">
                <p14:modId xmlns:p14="http://schemas.microsoft.com/office/powerpoint/2010/main" val="677310676"/>
              </p:ext>
            </p:extLst>
          </p:nvPr>
        </p:nvGraphicFramePr>
        <p:xfrm>
          <a:off x="685800" y="2141538"/>
          <a:ext cx="10131424" cy="4716462"/>
        </p:xfrm>
        <a:graphic>
          <a:graphicData uri="http://schemas.openxmlformats.org/drawingml/2006/table">
            <a:tbl>
              <a:tblPr firstRow="1" bandRow="1">
                <a:tableStyleId>{5C22544A-7EE6-4342-B048-85BDC9FD1C3A}</a:tableStyleId>
              </a:tblPr>
              <a:tblGrid>
                <a:gridCol w="5065712">
                  <a:extLst>
                    <a:ext uri="{9D8B030D-6E8A-4147-A177-3AD203B41FA5}">
                      <a16:colId xmlns:a16="http://schemas.microsoft.com/office/drawing/2014/main" val="2117694925"/>
                    </a:ext>
                  </a:extLst>
                </a:gridCol>
                <a:gridCol w="5065712">
                  <a:extLst>
                    <a:ext uri="{9D8B030D-6E8A-4147-A177-3AD203B41FA5}">
                      <a16:colId xmlns:a16="http://schemas.microsoft.com/office/drawing/2014/main" val="1689186982"/>
                    </a:ext>
                  </a:extLst>
                </a:gridCol>
              </a:tblGrid>
              <a:tr h="635243">
                <a:tc>
                  <a:txBody>
                    <a:bodyPr/>
                    <a:lstStyle/>
                    <a:p>
                      <a:r>
                        <a:rPr lang="en-US" dirty="0"/>
                        <a:t>Hardware Requirement </a:t>
                      </a:r>
                      <a:endParaRPr lang="en-IN" dirty="0"/>
                    </a:p>
                  </a:txBody>
                  <a:tcPr/>
                </a:tc>
                <a:tc>
                  <a:txBody>
                    <a:bodyPr/>
                    <a:lstStyle/>
                    <a:p>
                      <a:r>
                        <a:rPr lang="en-US" dirty="0"/>
                        <a:t>Software Requirement</a:t>
                      </a:r>
                      <a:endParaRPr lang="en-IN" dirty="0"/>
                    </a:p>
                  </a:txBody>
                  <a:tcPr/>
                </a:tc>
                <a:extLst>
                  <a:ext uri="{0D108BD9-81ED-4DB2-BD59-A6C34878D82A}">
                    <a16:rowId xmlns:a16="http://schemas.microsoft.com/office/drawing/2014/main" val="479532046"/>
                  </a:ext>
                </a:extLst>
              </a:tr>
              <a:tr h="3445976">
                <a:tc>
                  <a:txBody>
                    <a:bodyPr/>
                    <a:lstStyle/>
                    <a:p>
                      <a:r>
                        <a:rPr lang="en-US" sz="1800" b="0" i="0" kern="1200" dirty="0">
                          <a:solidFill>
                            <a:schemeClr val="dk1"/>
                          </a:solidFill>
                          <a:effectLst/>
                          <a:latin typeface="+mn-lt"/>
                          <a:ea typeface="+mn-ea"/>
                          <a:cs typeface="+mn-cs"/>
                        </a:rPr>
                        <a:t>For basic sentiment analysis of Twitter data, a standard desktop or laptop with a Core i5 processor, 4GB of RAM, and a 500GB hard drive is generally sufficient. More powerful hardware, like a faster CPU, more RAM, and a faster storage device (SSD), can significantly improve performance, especially when dealing with large datasets or complex models</a:t>
                      </a:r>
                      <a:endParaRPr lang="en-IN" dirty="0"/>
                    </a:p>
                  </a:txBody>
                  <a:tcPr/>
                </a:tc>
                <a:tc>
                  <a:txBody>
                    <a:bodyPr/>
                    <a:lstStyle/>
                    <a:p>
                      <a:r>
                        <a:rPr lang="en-IN" sz="1800" b="0" i="0" kern="1200" dirty="0">
                          <a:solidFill>
                            <a:schemeClr val="dk1"/>
                          </a:solidFill>
                          <a:effectLst/>
                          <a:latin typeface="+mn-lt"/>
                          <a:ea typeface="+mn-ea"/>
                          <a:cs typeface="+mn-cs"/>
                        </a:rPr>
                        <a:t>To conduct sentiment analysis on Twitter data, you'll need software tools for data retrieval, text processing, and sentiment analysis itself. Key software components include Python, a language like </a:t>
                      </a:r>
                      <a:r>
                        <a:rPr lang="en-IN" sz="1800" b="0" i="0" kern="1200" dirty="0" err="1">
                          <a:solidFill>
                            <a:schemeClr val="dk1"/>
                          </a:solidFill>
                          <a:effectLst/>
                          <a:latin typeface="+mn-lt"/>
                          <a:ea typeface="+mn-ea"/>
                          <a:cs typeface="+mn-cs"/>
                        </a:rPr>
                        <a:t>TextBlob</a:t>
                      </a:r>
                      <a:r>
                        <a:rPr lang="en-IN" sz="1800" b="0" i="0" kern="1200" dirty="0">
                          <a:solidFill>
                            <a:schemeClr val="dk1"/>
                          </a:solidFill>
                          <a:effectLst/>
                          <a:latin typeface="+mn-lt"/>
                          <a:ea typeface="+mn-ea"/>
                          <a:cs typeface="+mn-cs"/>
                        </a:rPr>
                        <a:t> or VADER for sentiment analysis, and </a:t>
                      </a:r>
                      <a:r>
                        <a:rPr lang="en-IN" sz="1800" b="0" i="0" kern="1200" dirty="0" err="1">
                          <a:solidFill>
                            <a:schemeClr val="dk1"/>
                          </a:solidFill>
                          <a:effectLst/>
                          <a:latin typeface="+mn-lt"/>
                          <a:ea typeface="+mn-ea"/>
                          <a:cs typeface="+mn-cs"/>
                        </a:rPr>
                        <a:t>Tweepy</a:t>
                      </a:r>
                      <a:r>
                        <a:rPr lang="en-IN" sz="1800" b="0" i="0" kern="1200" dirty="0">
                          <a:solidFill>
                            <a:schemeClr val="dk1"/>
                          </a:solidFill>
                          <a:effectLst/>
                          <a:latin typeface="+mn-lt"/>
                          <a:ea typeface="+mn-ea"/>
                          <a:cs typeface="+mn-cs"/>
                        </a:rPr>
                        <a:t> for accessing the Twitter API. </a:t>
                      </a:r>
                      <a:endParaRPr lang="en-IN" dirty="0"/>
                    </a:p>
                  </a:txBody>
                  <a:tcPr/>
                </a:tc>
                <a:extLst>
                  <a:ext uri="{0D108BD9-81ED-4DB2-BD59-A6C34878D82A}">
                    <a16:rowId xmlns:a16="http://schemas.microsoft.com/office/drawing/2014/main" val="2747475353"/>
                  </a:ext>
                </a:extLst>
              </a:tr>
              <a:tr h="635243">
                <a:tc>
                  <a:txBody>
                    <a:bodyPr/>
                    <a:lstStyle/>
                    <a:p>
                      <a:endParaRPr lang="en-IN"/>
                    </a:p>
                  </a:txBody>
                  <a:tcPr/>
                </a:tc>
                <a:tc>
                  <a:txBody>
                    <a:bodyPr/>
                    <a:lstStyle/>
                    <a:p>
                      <a:endParaRPr lang="en-IN" dirty="0"/>
                    </a:p>
                  </a:txBody>
                  <a:tcPr/>
                </a:tc>
                <a:extLst>
                  <a:ext uri="{0D108BD9-81ED-4DB2-BD59-A6C34878D82A}">
                    <a16:rowId xmlns:a16="http://schemas.microsoft.com/office/drawing/2014/main" val="294158077"/>
                  </a:ext>
                </a:extLst>
              </a:tr>
            </a:tbl>
          </a:graphicData>
        </a:graphic>
      </p:graphicFrame>
    </p:spTree>
    <p:extLst>
      <p:ext uri="{BB962C8B-B14F-4D97-AF65-F5344CB8AC3E}">
        <p14:creationId xmlns:p14="http://schemas.microsoft.com/office/powerpoint/2010/main" val="1129096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4114F-FDC2-1AC1-7586-37C5916C11E5}"/>
              </a:ext>
            </a:extLst>
          </p:cNvPr>
          <p:cNvSpPr>
            <a:spLocks noGrp="1"/>
          </p:cNvSpPr>
          <p:nvPr>
            <p:ph type="title"/>
          </p:nvPr>
        </p:nvSpPr>
        <p:spPr/>
        <p:txBody>
          <a:bodyPr/>
          <a:lstStyle/>
          <a:p>
            <a:endParaRPr lang="en-IN" dirty="0"/>
          </a:p>
        </p:txBody>
      </p:sp>
      <p:graphicFrame>
        <p:nvGraphicFramePr>
          <p:cNvPr id="5" name="Content Placeholder 4">
            <a:extLst>
              <a:ext uri="{FF2B5EF4-FFF2-40B4-BE49-F238E27FC236}">
                <a16:creationId xmlns:a16="http://schemas.microsoft.com/office/drawing/2014/main" id="{E359032D-550B-C0D9-6821-5BD39613139B}"/>
              </a:ext>
            </a:extLst>
          </p:cNvPr>
          <p:cNvGraphicFramePr>
            <a:graphicFrameLocks noGrp="1"/>
          </p:cNvGraphicFramePr>
          <p:nvPr>
            <p:ph idx="1"/>
            <p:extLst>
              <p:ext uri="{D42A27DB-BD31-4B8C-83A1-F6EECF244321}">
                <p14:modId xmlns:p14="http://schemas.microsoft.com/office/powerpoint/2010/main" val="960743940"/>
              </p:ext>
            </p:extLst>
          </p:nvPr>
        </p:nvGraphicFramePr>
        <p:xfrm>
          <a:off x="612649" y="2"/>
          <a:ext cx="10131424" cy="7040880"/>
        </p:xfrm>
        <a:graphic>
          <a:graphicData uri="http://schemas.openxmlformats.org/drawingml/2006/table">
            <a:tbl>
              <a:tblPr firstRow="1" bandRow="1">
                <a:tableStyleId>{5C22544A-7EE6-4342-B048-85BDC9FD1C3A}</a:tableStyleId>
              </a:tblPr>
              <a:tblGrid>
                <a:gridCol w="5065712">
                  <a:extLst>
                    <a:ext uri="{9D8B030D-6E8A-4147-A177-3AD203B41FA5}">
                      <a16:colId xmlns:a16="http://schemas.microsoft.com/office/drawing/2014/main" val="2896889319"/>
                    </a:ext>
                  </a:extLst>
                </a:gridCol>
                <a:gridCol w="5065712">
                  <a:extLst>
                    <a:ext uri="{9D8B030D-6E8A-4147-A177-3AD203B41FA5}">
                      <a16:colId xmlns:a16="http://schemas.microsoft.com/office/drawing/2014/main" val="2019836247"/>
                    </a:ext>
                  </a:extLst>
                </a:gridCol>
              </a:tblGrid>
              <a:tr h="334093">
                <a:tc>
                  <a:txBody>
                    <a:bodyPr/>
                    <a:lstStyle/>
                    <a:p>
                      <a:r>
                        <a:rPr lang="en-US" dirty="0"/>
                        <a:t>Advantages</a:t>
                      </a:r>
                      <a:endParaRPr lang="en-IN" dirty="0"/>
                    </a:p>
                  </a:txBody>
                  <a:tcPr/>
                </a:tc>
                <a:tc>
                  <a:txBody>
                    <a:bodyPr/>
                    <a:lstStyle/>
                    <a:p>
                      <a:r>
                        <a:rPr lang="en-US" dirty="0"/>
                        <a:t>Disadvantages</a:t>
                      </a:r>
                      <a:endParaRPr lang="en-IN" dirty="0"/>
                    </a:p>
                  </a:txBody>
                  <a:tcPr/>
                </a:tc>
                <a:extLst>
                  <a:ext uri="{0D108BD9-81ED-4DB2-BD59-A6C34878D82A}">
                    <a16:rowId xmlns:a16="http://schemas.microsoft.com/office/drawing/2014/main" val="1818846470"/>
                  </a:ext>
                </a:extLst>
              </a:tr>
              <a:tr h="6097189">
                <a:tc>
                  <a:txBody>
                    <a:bodyPr/>
                    <a:lstStyle/>
                    <a:p>
                      <a:r>
                        <a:rPr lang="en-US" b="1" dirty="0"/>
                        <a:t>Real-Time Insights</a:t>
                      </a:r>
                      <a:endParaRPr lang="en-US" dirty="0"/>
                    </a:p>
                    <a:p>
                      <a:pPr lvl="1"/>
                      <a:r>
                        <a:rPr lang="en-US" dirty="0"/>
                        <a:t>Twitter provides a constant stream of up-to-date user opinions, enabling real-time monitoring of trends, events, and public reactions.</a:t>
                      </a:r>
                    </a:p>
                    <a:p>
                      <a:r>
                        <a:rPr lang="en-US" b="1" dirty="0"/>
                        <a:t>Public and Accessible Data</a:t>
                      </a:r>
                      <a:endParaRPr lang="en-US" dirty="0"/>
                    </a:p>
                    <a:p>
                      <a:pPr lvl="1"/>
                      <a:r>
                        <a:rPr lang="en-US" dirty="0"/>
                        <a:t>Most tweets are public and accessible through the Twitter API, making it easier for researchers and organizations to collect large datasets.</a:t>
                      </a:r>
                    </a:p>
                    <a:p>
                      <a:r>
                        <a:rPr lang="en-US" b="1" dirty="0"/>
                        <a:t>Rich in Opinionated Content</a:t>
                      </a:r>
                      <a:endParaRPr lang="en-US" dirty="0"/>
                    </a:p>
                    <a:p>
                      <a:pPr lvl="1"/>
                      <a:r>
                        <a:rPr lang="en-US" dirty="0"/>
                        <a:t>Twitter users often express strong opinions, making it ideal for sentiment mining compared to more neutral platforms.</a:t>
                      </a:r>
                    </a:p>
                    <a:p>
                      <a:r>
                        <a:rPr lang="en-US" b="1" dirty="0"/>
                        <a:t>Supports Trend Analysis</a:t>
                      </a:r>
                      <a:endParaRPr lang="en-US" dirty="0"/>
                    </a:p>
                    <a:p>
                      <a:pPr lvl="1"/>
                      <a:r>
                        <a:rPr lang="en-US" dirty="0"/>
                        <a:t>Useful for tracking public mood over time, gauging response to events (e.g., product launches, political debates), and detecting viral content.</a:t>
                      </a:r>
                    </a:p>
                    <a:p>
                      <a:r>
                        <a:rPr lang="en-US" b="1" dirty="0"/>
                        <a:t>Cost-Effective</a:t>
                      </a:r>
                      <a:endParaRPr lang="en-US" dirty="0"/>
                    </a:p>
                    <a:p>
                      <a:pPr lvl="1"/>
                      <a:r>
                        <a:rPr lang="en-US" dirty="0"/>
                        <a:t>Twitter data can be analyzed using open-source tools and platforms, which reduces the cost of gathering traditional survey-based feedback.</a:t>
                      </a:r>
                    </a:p>
                    <a:p>
                      <a:endParaRPr lang="en-US" dirty="0"/>
                    </a:p>
                    <a:p>
                      <a:endParaRPr lang="en-IN" dirty="0"/>
                    </a:p>
                  </a:txBody>
                  <a:tcPr/>
                </a:tc>
                <a:tc>
                  <a:txBody>
                    <a:bodyPr/>
                    <a:lstStyle/>
                    <a:p>
                      <a:r>
                        <a:rPr lang="en-US" b="1" dirty="0"/>
                        <a:t>Short and Informal Text</a:t>
                      </a:r>
                      <a:endParaRPr lang="en-US" dirty="0"/>
                    </a:p>
                    <a:p>
                      <a:r>
                        <a:rPr lang="en-US" dirty="0"/>
                        <a:t>Tweets are limited in length (280 characters), often containing slang, abbreviations, emojis, and misspellings, which makes accurate sentiment analysis challenging.</a:t>
                      </a:r>
                    </a:p>
                    <a:p>
                      <a:r>
                        <a:rPr lang="en-US" b="1" dirty="0"/>
                        <a:t>Sarcasm and Irony Detection</a:t>
                      </a:r>
                      <a:endParaRPr lang="en-US" dirty="0"/>
                    </a:p>
                    <a:p>
                      <a:r>
                        <a:rPr lang="en-US" dirty="0"/>
                        <a:t>Many tweets contain sarcasm or irony that can mislead sentiment classification models, especially traditional ones.</a:t>
                      </a:r>
                    </a:p>
                    <a:p>
                      <a:r>
                        <a:rPr lang="en-US" b="1" dirty="0"/>
                        <a:t>Noise and Irrelevance</a:t>
                      </a:r>
                      <a:endParaRPr lang="en-US" dirty="0"/>
                    </a:p>
                    <a:p>
                      <a:r>
                        <a:rPr lang="en-US" dirty="0"/>
                        <a:t>High volume of irrelevant or spammy content can dilute meaningful insights and require substantial preprocessing.</a:t>
                      </a:r>
                    </a:p>
                    <a:p>
                      <a:r>
                        <a:rPr lang="en-US" b="1" dirty="0"/>
                        <a:t>Language and Cultural Variability</a:t>
                      </a:r>
                      <a:endParaRPr lang="en-US" dirty="0"/>
                    </a:p>
                    <a:p>
                      <a:r>
                        <a:rPr lang="en-US" dirty="0"/>
                        <a:t>Tweets are multilingual and context-dependent; analyzing them across languages or cultures can reduce accuracy without proper models.</a:t>
                      </a:r>
                    </a:p>
                    <a:p>
                      <a:r>
                        <a:rPr lang="en-US" b="1" dirty="0"/>
                        <a:t>Data Access Limits</a:t>
                      </a:r>
                      <a:endParaRPr lang="en-US" dirty="0"/>
                    </a:p>
                    <a:p>
                      <a:r>
                        <a:rPr lang="en-US" dirty="0"/>
                        <a:t>Twitter’s API imposes rate limits and terms of service that may restrict access to large or historical dataset.</a:t>
                      </a:r>
                    </a:p>
                    <a:p>
                      <a:endParaRPr lang="en-IN" dirty="0"/>
                    </a:p>
                  </a:txBody>
                  <a:tcPr/>
                </a:tc>
                <a:extLst>
                  <a:ext uri="{0D108BD9-81ED-4DB2-BD59-A6C34878D82A}">
                    <a16:rowId xmlns:a16="http://schemas.microsoft.com/office/drawing/2014/main" val="1219383763"/>
                  </a:ext>
                </a:extLst>
              </a:tr>
            </a:tbl>
          </a:graphicData>
        </a:graphic>
      </p:graphicFrame>
    </p:spTree>
    <p:extLst>
      <p:ext uri="{BB962C8B-B14F-4D97-AF65-F5344CB8AC3E}">
        <p14:creationId xmlns:p14="http://schemas.microsoft.com/office/powerpoint/2010/main" val="3656171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9FE0A-275B-3444-691F-15A2ABBFECD2}"/>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57FBA1A5-5AFF-C389-4746-4FC5055A0136}"/>
              </a:ext>
            </a:extLst>
          </p:cNvPr>
          <p:cNvSpPr>
            <a:spLocks noGrp="1"/>
          </p:cNvSpPr>
          <p:nvPr>
            <p:ph idx="1"/>
          </p:nvPr>
        </p:nvSpPr>
        <p:spPr/>
        <p:txBody>
          <a:bodyPr/>
          <a:lstStyle/>
          <a:p>
            <a:r>
              <a:rPr lang="en-US" b="0" i="0" dirty="0">
                <a:effectLst/>
                <a:latin typeface="Arial" panose="020B0604020202020204" pitchFamily="34" charset="0"/>
              </a:rPr>
              <a:t>In recent years, researchers have become increasingly interested in analyzing tweets based on the sentiments they represent. This interest comes from the fact that a great number of tweets are posted on Twitter, which provides vital information on the sentiments of the public on a variety of subjects. The goal of this survey is to introduce the basic concepts and techniques for sentiment analysis of tweets, and more than 60 publications were evaluated and classified to exhibit the most recent developments in the field. It is also beneficial to learn sentiment analysis by looking at the most recent applications of TSA. It is believed that TSA will be a rapidly developing research field during the next few years. More studies on TSA will be conducted in the future.</a:t>
            </a:r>
            <a:endParaRPr lang="en-IN" dirty="0"/>
          </a:p>
        </p:txBody>
      </p:sp>
    </p:spTree>
    <p:extLst>
      <p:ext uri="{BB962C8B-B14F-4D97-AF65-F5344CB8AC3E}">
        <p14:creationId xmlns:p14="http://schemas.microsoft.com/office/powerpoint/2010/main" val="1403608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12B44-D88E-A872-B91B-DA58E4D7D299}"/>
              </a:ext>
            </a:extLst>
          </p:cNvPr>
          <p:cNvSpPr>
            <a:spLocks noGrp="1"/>
          </p:cNvSpPr>
          <p:nvPr>
            <p:ph type="title"/>
          </p:nvPr>
        </p:nvSpPr>
        <p:spPr/>
        <p:txBody>
          <a:bodyPr/>
          <a:lstStyle/>
          <a:p>
            <a:r>
              <a:rPr lang="en-US" dirty="0"/>
              <a:t>reference</a:t>
            </a:r>
            <a:endParaRPr lang="en-IN" dirty="0"/>
          </a:p>
        </p:txBody>
      </p:sp>
      <p:sp>
        <p:nvSpPr>
          <p:cNvPr id="3" name="Content Placeholder 2">
            <a:extLst>
              <a:ext uri="{FF2B5EF4-FFF2-40B4-BE49-F238E27FC236}">
                <a16:creationId xmlns:a16="http://schemas.microsoft.com/office/drawing/2014/main" id="{DC0312FE-4582-C84C-0EEE-157FC03CA5F7}"/>
              </a:ext>
            </a:extLst>
          </p:cNvPr>
          <p:cNvSpPr>
            <a:spLocks noGrp="1"/>
          </p:cNvSpPr>
          <p:nvPr>
            <p:ph idx="1"/>
          </p:nvPr>
        </p:nvSpPr>
        <p:spPr/>
        <p:txBody>
          <a:bodyPr>
            <a:normAutofit lnSpcReduction="10000"/>
          </a:bodyPr>
          <a:lstStyle/>
          <a:p>
            <a:pPr algn="just">
              <a:buFont typeface="+mj-lt"/>
              <a:buAutoNum type="arabicPeriod"/>
            </a:pPr>
            <a:r>
              <a:rPr lang="en-IN" b="0" i="0" dirty="0">
                <a:effectLst/>
                <a:latin typeface="Arial" panose="020B0604020202020204" pitchFamily="34" charset="0"/>
              </a:rPr>
              <a:t>Zimbra, D.; Abbasi, A.; Zeng, D.; Chen, H. The State-of-the-Art in Twitter Sentiment Analysis: A Review and Benchmark Evaluation. </a:t>
            </a:r>
            <a:r>
              <a:rPr lang="en-IN" b="0" i="1" dirty="0">
                <a:effectLst/>
                <a:latin typeface="Arial" panose="020B0604020202020204" pitchFamily="34" charset="0"/>
              </a:rPr>
              <a:t>ACM Trans. Manag. Inf. Syst.</a:t>
            </a:r>
            <a:r>
              <a:rPr lang="en-IN" b="0" i="0" dirty="0">
                <a:effectLst/>
                <a:latin typeface="Arial" panose="020B0604020202020204" pitchFamily="34" charset="0"/>
              </a:rPr>
              <a:t> </a:t>
            </a:r>
            <a:r>
              <a:rPr lang="en-IN" b="1" i="0" dirty="0">
                <a:effectLst/>
                <a:latin typeface="Arial" panose="020B0604020202020204" pitchFamily="34" charset="0"/>
              </a:rPr>
              <a:t>2018</a:t>
            </a:r>
            <a:r>
              <a:rPr lang="en-IN" b="0" i="0" dirty="0">
                <a:effectLst/>
                <a:latin typeface="Arial" panose="020B0604020202020204" pitchFamily="34" charset="0"/>
              </a:rPr>
              <a:t>, </a:t>
            </a:r>
            <a:r>
              <a:rPr lang="en-IN" b="0" i="1" dirty="0">
                <a:effectLst/>
                <a:latin typeface="Arial" panose="020B0604020202020204" pitchFamily="34" charset="0"/>
              </a:rPr>
              <a:t>9</a:t>
            </a:r>
            <a:r>
              <a:rPr lang="en-IN" b="0" i="0" dirty="0">
                <a:effectLst/>
                <a:latin typeface="Arial" panose="020B0604020202020204" pitchFamily="34" charset="0"/>
              </a:rPr>
              <a:t>, 5. [</a:t>
            </a:r>
            <a:r>
              <a:rPr lang="en-IN" b="1" i="0" u="none" strike="noStrike" dirty="0">
                <a:effectLst/>
                <a:latin typeface="Arial" panose="020B0604020202020204" pitchFamily="34" charset="0"/>
                <a:hlinkClick r:id="rId2">
                  <a:extLst>
                    <a:ext uri="{A12FA001-AC4F-418D-AE19-62706E023703}">
                      <ahyp:hlinkClr xmlns:ahyp="http://schemas.microsoft.com/office/drawing/2018/hyperlinkcolor" val="tx"/>
                    </a:ext>
                  </a:extLst>
                </a:hlinkClick>
              </a:rPr>
              <a:t>Google Scholar</a:t>
            </a:r>
            <a:r>
              <a:rPr lang="en-IN" b="0" i="0" dirty="0">
                <a:effectLst/>
                <a:latin typeface="Arial" panose="020B0604020202020204" pitchFamily="34" charset="0"/>
              </a:rPr>
              <a:t>] [</a:t>
            </a:r>
            <a:r>
              <a:rPr lang="en-IN" b="1" i="0" u="none" strike="noStrike" dirty="0" err="1">
                <a:effectLst/>
                <a:latin typeface="Arial" panose="020B0604020202020204" pitchFamily="34" charset="0"/>
                <a:hlinkClick r:id="rId3">
                  <a:extLst>
                    <a:ext uri="{A12FA001-AC4F-418D-AE19-62706E023703}">
                      <ahyp:hlinkClr xmlns:ahyp="http://schemas.microsoft.com/office/drawing/2018/hyperlinkcolor" val="tx"/>
                    </a:ext>
                  </a:extLst>
                </a:hlinkClick>
              </a:rPr>
              <a:t>CrossRef</a:t>
            </a:r>
            <a:r>
              <a:rPr lang="en-IN" b="0" i="0" dirty="0">
                <a:effectLst/>
                <a:latin typeface="Arial" panose="020B0604020202020204" pitchFamily="34" charset="0"/>
              </a:rPr>
              <a:t>]</a:t>
            </a:r>
          </a:p>
          <a:p>
            <a:pPr algn="just">
              <a:buFont typeface="+mj-lt"/>
              <a:buAutoNum type="arabicPeriod"/>
            </a:pPr>
            <a:r>
              <a:rPr lang="en-IN" b="0" i="0" dirty="0">
                <a:effectLst/>
                <a:latin typeface="Arial" panose="020B0604020202020204" pitchFamily="34" charset="0"/>
              </a:rPr>
              <a:t>Rui, H.; Liu, Y.; </a:t>
            </a:r>
            <a:r>
              <a:rPr lang="en-IN" b="0" i="0" dirty="0" err="1">
                <a:effectLst/>
                <a:latin typeface="Arial" panose="020B0604020202020204" pitchFamily="34" charset="0"/>
              </a:rPr>
              <a:t>Whinston</a:t>
            </a:r>
            <a:r>
              <a:rPr lang="en-IN" b="0" i="0" dirty="0">
                <a:effectLst/>
                <a:latin typeface="Arial" panose="020B0604020202020204" pitchFamily="34" charset="0"/>
              </a:rPr>
              <a:t>, A. Whose and What Chatter Matters? The Effect of Tweets on Movie Sales. </a:t>
            </a:r>
            <a:r>
              <a:rPr lang="en-IN" b="0" i="1" dirty="0" err="1">
                <a:effectLst/>
                <a:latin typeface="Arial" panose="020B0604020202020204" pitchFamily="34" charset="0"/>
              </a:rPr>
              <a:t>Decis</a:t>
            </a:r>
            <a:r>
              <a:rPr lang="en-IN" b="0" i="1" dirty="0">
                <a:effectLst/>
                <a:latin typeface="Arial" panose="020B0604020202020204" pitchFamily="34" charset="0"/>
              </a:rPr>
              <a:t>. Support Syst.</a:t>
            </a:r>
            <a:r>
              <a:rPr lang="en-IN" b="0" i="0" dirty="0">
                <a:effectLst/>
                <a:latin typeface="Arial" panose="020B0604020202020204" pitchFamily="34" charset="0"/>
              </a:rPr>
              <a:t> </a:t>
            </a:r>
            <a:r>
              <a:rPr lang="en-IN" b="1" i="0" dirty="0">
                <a:effectLst/>
                <a:latin typeface="Arial" panose="020B0604020202020204" pitchFamily="34" charset="0"/>
              </a:rPr>
              <a:t>2013</a:t>
            </a:r>
            <a:r>
              <a:rPr lang="en-IN" b="0" i="0" dirty="0">
                <a:effectLst/>
                <a:latin typeface="Arial" panose="020B0604020202020204" pitchFamily="34" charset="0"/>
              </a:rPr>
              <a:t>, </a:t>
            </a:r>
            <a:r>
              <a:rPr lang="en-IN" b="0" i="1" dirty="0">
                <a:effectLst/>
                <a:latin typeface="Arial" panose="020B0604020202020204" pitchFamily="34" charset="0"/>
              </a:rPr>
              <a:t>55</a:t>
            </a:r>
            <a:r>
              <a:rPr lang="en-IN" b="0" i="0" dirty="0">
                <a:effectLst/>
                <a:latin typeface="Arial" panose="020B0604020202020204" pitchFamily="34" charset="0"/>
              </a:rPr>
              <a:t>, 863–870. [</a:t>
            </a:r>
            <a:r>
              <a:rPr lang="en-IN" b="1" i="0" u="none" strike="noStrike" dirty="0">
                <a:effectLst/>
                <a:latin typeface="Arial" panose="020B0604020202020204" pitchFamily="34" charset="0"/>
                <a:hlinkClick r:id="rId4">
                  <a:extLst>
                    <a:ext uri="{A12FA001-AC4F-418D-AE19-62706E023703}">
                      <ahyp:hlinkClr xmlns:ahyp="http://schemas.microsoft.com/office/drawing/2018/hyperlinkcolor" val="tx"/>
                    </a:ext>
                  </a:extLst>
                </a:hlinkClick>
              </a:rPr>
              <a:t>Google Scholar</a:t>
            </a:r>
            <a:r>
              <a:rPr lang="en-IN" b="0" i="0" dirty="0">
                <a:effectLst/>
                <a:latin typeface="Arial" panose="020B0604020202020204" pitchFamily="34" charset="0"/>
              </a:rPr>
              <a:t>] [</a:t>
            </a:r>
            <a:r>
              <a:rPr lang="en-IN" b="1" i="0" u="none" strike="noStrike" dirty="0" err="1">
                <a:effectLst/>
                <a:latin typeface="Arial" panose="020B0604020202020204" pitchFamily="34" charset="0"/>
                <a:hlinkClick r:id="rId5">
                  <a:extLst>
                    <a:ext uri="{A12FA001-AC4F-418D-AE19-62706E023703}">
                      <ahyp:hlinkClr xmlns:ahyp="http://schemas.microsoft.com/office/drawing/2018/hyperlinkcolor" val="tx"/>
                    </a:ext>
                  </a:extLst>
                </a:hlinkClick>
              </a:rPr>
              <a:t>CrossRef</a:t>
            </a:r>
            <a:r>
              <a:rPr lang="en-IN" b="0" i="0" dirty="0">
                <a:effectLst/>
                <a:latin typeface="Arial" panose="020B0604020202020204" pitchFamily="34" charset="0"/>
              </a:rPr>
              <a:t>] [</a:t>
            </a:r>
            <a:r>
              <a:rPr lang="en-IN" b="1" i="0" u="none" strike="noStrike" dirty="0">
                <a:effectLst/>
                <a:latin typeface="Arial" panose="020B0604020202020204" pitchFamily="34" charset="0"/>
                <a:hlinkClick r:id="rId6">
                  <a:extLst>
                    <a:ext uri="{A12FA001-AC4F-418D-AE19-62706E023703}">
                      <ahyp:hlinkClr xmlns:ahyp="http://schemas.microsoft.com/office/drawing/2018/hyperlinkcolor" val="tx"/>
                    </a:ext>
                  </a:extLst>
                </a:hlinkClick>
              </a:rPr>
              <a:t>Green Version</a:t>
            </a:r>
            <a:r>
              <a:rPr lang="en-IN" b="0" i="0" dirty="0">
                <a:effectLst/>
                <a:latin typeface="Arial" panose="020B0604020202020204" pitchFamily="34" charset="0"/>
              </a:rPr>
              <a:t>]</a:t>
            </a:r>
          </a:p>
          <a:p>
            <a:pPr algn="just">
              <a:buFont typeface="+mj-lt"/>
              <a:buAutoNum type="arabicPeriod"/>
            </a:pPr>
            <a:r>
              <a:rPr lang="en-IN" b="0" i="0" dirty="0">
                <a:effectLst/>
                <a:latin typeface="Arial" panose="020B0604020202020204" pitchFamily="34" charset="0"/>
              </a:rPr>
              <a:t>Bollen, J.; Mao, H.; Zeng, X. Twitter Mood Predicts the Stock Market. </a:t>
            </a:r>
            <a:r>
              <a:rPr lang="en-IN" b="0" i="1" dirty="0">
                <a:effectLst/>
                <a:latin typeface="Arial" panose="020B0604020202020204" pitchFamily="34" charset="0"/>
              </a:rPr>
              <a:t>J. </a:t>
            </a:r>
            <a:r>
              <a:rPr lang="en-IN" b="0" i="1" dirty="0" err="1">
                <a:effectLst/>
                <a:latin typeface="Arial" panose="020B0604020202020204" pitchFamily="34" charset="0"/>
              </a:rPr>
              <a:t>Comput</a:t>
            </a:r>
            <a:r>
              <a:rPr lang="en-IN" b="0" i="1" dirty="0">
                <a:effectLst/>
                <a:latin typeface="Arial" panose="020B0604020202020204" pitchFamily="34" charset="0"/>
              </a:rPr>
              <a:t>. Sci.</a:t>
            </a:r>
            <a:r>
              <a:rPr lang="en-IN" b="0" i="0" dirty="0">
                <a:effectLst/>
                <a:latin typeface="Arial" panose="020B0604020202020204" pitchFamily="34" charset="0"/>
              </a:rPr>
              <a:t> </a:t>
            </a:r>
            <a:r>
              <a:rPr lang="en-IN" b="1" i="0" dirty="0">
                <a:effectLst/>
                <a:latin typeface="Arial" panose="020B0604020202020204" pitchFamily="34" charset="0"/>
              </a:rPr>
              <a:t>2011</a:t>
            </a:r>
            <a:r>
              <a:rPr lang="en-IN" b="0" i="0" dirty="0">
                <a:effectLst/>
                <a:latin typeface="Arial" panose="020B0604020202020204" pitchFamily="34" charset="0"/>
              </a:rPr>
              <a:t>, </a:t>
            </a:r>
            <a:r>
              <a:rPr lang="en-IN" b="0" i="1" dirty="0">
                <a:effectLst/>
                <a:latin typeface="Arial" panose="020B0604020202020204" pitchFamily="34" charset="0"/>
              </a:rPr>
              <a:t>2</a:t>
            </a:r>
            <a:r>
              <a:rPr lang="en-IN" b="0" i="0" dirty="0">
                <a:effectLst/>
                <a:latin typeface="Arial" panose="020B0604020202020204" pitchFamily="34" charset="0"/>
              </a:rPr>
              <a:t>, 1–8. [</a:t>
            </a:r>
            <a:r>
              <a:rPr lang="en-IN" b="1" i="0" u="none" strike="noStrike" dirty="0">
                <a:effectLst/>
                <a:latin typeface="Arial" panose="020B0604020202020204" pitchFamily="34" charset="0"/>
                <a:hlinkClick r:id="rId7">
                  <a:extLst>
                    <a:ext uri="{A12FA001-AC4F-418D-AE19-62706E023703}">
                      <ahyp:hlinkClr xmlns:ahyp="http://schemas.microsoft.com/office/drawing/2018/hyperlinkcolor" val="tx"/>
                    </a:ext>
                  </a:extLst>
                </a:hlinkClick>
              </a:rPr>
              <a:t>Google Scholar</a:t>
            </a:r>
            <a:r>
              <a:rPr lang="en-IN" b="0" i="0" dirty="0">
                <a:effectLst/>
                <a:latin typeface="Arial" panose="020B0604020202020204" pitchFamily="34" charset="0"/>
              </a:rPr>
              <a:t>] [</a:t>
            </a:r>
            <a:r>
              <a:rPr lang="en-IN" b="1" i="0" u="none" strike="noStrike" dirty="0" err="1">
                <a:effectLst/>
                <a:latin typeface="Arial" panose="020B0604020202020204" pitchFamily="34" charset="0"/>
                <a:hlinkClick r:id="rId8">
                  <a:extLst>
                    <a:ext uri="{A12FA001-AC4F-418D-AE19-62706E023703}">
                      <ahyp:hlinkClr xmlns:ahyp="http://schemas.microsoft.com/office/drawing/2018/hyperlinkcolor" val="tx"/>
                    </a:ext>
                  </a:extLst>
                </a:hlinkClick>
              </a:rPr>
              <a:t>CrossRef</a:t>
            </a:r>
            <a:r>
              <a:rPr lang="en-IN" b="0" i="0" dirty="0">
                <a:effectLst/>
                <a:latin typeface="Arial" panose="020B0604020202020204" pitchFamily="34" charset="0"/>
              </a:rPr>
              <a:t>] [</a:t>
            </a:r>
            <a:r>
              <a:rPr lang="en-IN" b="1" i="0" u="none" strike="noStrike" dirty="0">
                <a:effectLst/>
                <a:latin typeface="Arial" panose="020B0604020202020204" pitchFamily="34" charset="0"/>
                <a:hlinkClick r:id="rId9">
                  <a:extLst>
                    <a:ext uri="{A12FA001-AC4F-418D-AE19-62706E023703}">
                      <ahyp:hlinkClr xmlns:ahyp="http://schemas.microsoft.com/office/drawing/2018/hyperlinkcolor" val="tx"/>
                    </a:ext>
                  </a:extLst>
                </a:hlinkClick>
              </a:rPr>
              <a:t>Green Version</a:t>
            </a:r>
            <a:r>
              <a:rPr lang="en-IN" b="0" i="0" dirty="0">
                <a:effectLst/>
                <a:latin typeface="Arial" panose="020B0604020202020204" pitchFamily="34" charset="0"/>
              </a:rPr>
              <a:t>]</a:t>
            </a:r>
          </a:p>
          <a:p>
            <a:pPr algn="just">
              <a:buFont typeface="+mj-lt"/>
              <a:buAutoNum type="arabicPeriod"/>
            </a:pPr>
            <a:r>
              <a:rPr lang="en-IN" b="0" i="0" dirty="0">
                <a:effectLst/>
                <a:latin typeface="Arial" panose="020B0604020202020204" pitchFamily="34" charset="0"/>
              </a:rPr>
              <a:t>Wang, H.; Can, D.; Kazemzadeh, A.; Bar, F.; Narayanan, S. A System for Real-time Twitter Sentiment Analysis of 2012 U.S. Presidential Election Cycle. In Proceedings of the ACL 2012 System Demonstrations, Jeju Island, Korea, 10 July 2012. [</a:t>
            </a:r>
            <a:r>
              <a:rPr lang="en-IN" b="1" i="0" u="none" strike="noStrike" dirty="0">
                <a:effectLst/>
                <a:latin typeface="Arial" panose="020B0604020202020204" pitchFamily="34" charset="0"/>
                <a:hlinkClick r:id="rId10">
                  <a:extLst>
                    <a:ext uri="{A12FA001-AC4F-418D-AE19-62706E023703}">
                      <ahyp:hlinkClr xmlns:ahyp="http://schemas.microsoft.com/office/drawing/2018/hyperlinkcolor" val="tx"/>
                    </a:ext>
                  </a:extLst>
                </a:hlinkClick>
              </a:rPr>
              <a:t>Google Scholar</a:t>
            </a:r>
            <a:r>
              <a:rPr lang="en-IN" b="0" i="0" dirty="0">
                <a:effectLst/>
                <a:latin typeface="Arial" panose="020B0604020202020204" pitchFamily="34" charset="0"/>
              </a:rPr>
              <a:t>]</a:t>
            </a:r>
          </a:p>
          <a:p>
            <a:pPr algn="just">
              <a:buFont typeface="+mj-lt"/>
              <a:buAutoNum type="arabicPeriod"/>
            </a:pPr>
            <a:r>
              <a:rPr lang="en-IN" b="0" i="0" dirty="0">
                <a:effectLst/>
                <a:latin typeface="Arial" panose="020B0604020202020204" pitchFamily="34" charset="0"/>
              </a:rPr>
              <a:t>Statista. Available online: </a:t>
            </a:r>
            <a:r>
              <a:rPr lang="en-IN" b="1" i="0" u="none" strike="noStrike" dirty="0">
                <a:effectLst/>
                <a:latin typeface="Arial" panose="020B0604020202020204" pitchFamily="34" charset="0"/>
                <a:hlinkClick r:id="rId11">
                  <a:extLst>
                    <a:ext uri="{A12FA001-AC4F-418D-AE19-62706E023703}">
                      <ahyp:hlinkClr xmlns:ahyp="http://schemas.microsoft.com/office/drawing/2018/hyperlinkcolor" val="tx"/>
                    </a:ext>
                  </a:extLst>
                </a:hlinkClick>
              </a:rPr>
              <a:t>https://www.statista.com</a:t>
            </a:r>
            <a:r>
              <a:rPr lang="en-IN" b="0" i="0" dirty="0">
                <a:effectLst/>
                <a:latin typeface="Arial" panose="020B0604020202020204" pitchFamily="34" charset="0"/>
              </a:rPr>
              <a:t> (accessed on 15 November 2022).</a:t>
            </a:r>
          </a:p>
          <a:p>
            <a:endParaRPr lang="en-IN" dirty="0"/>
          </a:p>
        </p:txBody>
      </p:sp>
    </p:spTree>
    <p:extLst>
      <p:ext uri="{BB962C8B-B14F-4D97-AF65-F5344CB8AC3E}">
        <p14:creationId xmlns:p14="http://schemas.microsoft.com/office/powerpoint/2010/main" val="32627375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177</TotalTime>
  <Words>1370</Words>
  <Application>Microsoft Office PowerPoint</Application>
  <PresentationFormat>Widescreen</PresentationFormat>
  <Paragraphs>75</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Google Sans</vt:lpstr>
      <vt:lpstr>Times New Roman</vt:lpstr>
      <vt:lpstr>Celestial</vt:lpstr>
      <vt:lpstr>Sentiment analysis of twitter data </vt:lpstr>
      <vt:lpstr>Index</vt:lpstr>
      <vt:lpstr>Abstract  </vt:lpstr>
      <vt:lpstr>introduction</vt:lpstr>
      <vt:lpstr>Literature review</vt:lpstr>
      <vt:lpstr>methodology</vt:lpstr>
      <vt:lpstr>System architecutre</vt:lpstr>
      <vt:lpstr>System requirement</vt:lpstr>
      <vt:lpstr>PowerPoint Presentation</vt:lpstr>
      <vt:lpstr>conclusion</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Burri Bhargavi</dc:creator>
  <cp:lastModifiedBy>Burri Bhargavi</cp:lastModifiedBy>
  <cp:revision>2</cp:revision>
  <dcterms:created xsi:type="dcterms:W3CDTF">2025-05-03T17:56:46Z</dcterms:created>
  <dcterms:modified xsi:type="dcterms:W3CDTF">2025-05-03T20:54:17Z</dcterms:modified>
</cp:coreProperties>
</file>